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04672" y="512064"/>
            <a:ext cx="2194560" cy="329184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512064"/>
            <a:ext cx="2194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技术分享 | 60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621792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900" b="1" i="0">
                <a:solidFill>
                  <a:srgbClr val="34424E"/>
                </a:solidFill>
                <a:latin typeface="PingFang SC"/>
              </a:rPr>
              <a:t>怎么让 AI 帮你改代码，
但不把项目改坏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6217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 i="0">
                <a:solidFill>
                  <a:srgbClr val="6D7B84"/>
                </a:solidFill>
                <a:latin typeface="PingFang SC"/>
              </a:rPr>
              <a:t>从 OpenClaw 的困境到 Nanobot/Ava 的 Harness 实践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83280"/>
            <a:ext cx="5440680" cy="1078992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47872"/>
            <a:ext cx="4114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 i="0">
                <a:solidFill>
                  <a:srgbClr val="34424E"/>
                </a:solidFill>
                <a:latin typeface="Songti SC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712464"/>
            <a:ext cx="4599432" cy="51206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 i="0">
                <a:solidFill>
                  <a:srgbClr val="34424E"/>
                </a:solidFill>
                <a:latin typeface="Songti SC"/>
              </a:rPr>
              <a:t>我不是只会用 AI 写代码，我会给 AI 设计边界。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828032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34424E"/>
                </a:solidFill>
                <a:latin typeface="PingFang SC"/>
              </a:rPr>
              <a:t>主讲人：方壶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102352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6D7B84"/>
                </a:solidFill>
                <a:latin typeface="PingFang SC"/>
              </a:rPr>
              <a:t>Nanobot/Ava · Harness Engineering · Spec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822960"/>
            <a:ext cx="3383280" cy="256032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anobo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800001"/>
            <a:ext cx="2743200" cy="5147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49640" y="3566160"/>
            <a:ext cx="3108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34424E"/>
                </a:solidFill>
                <a:latin typeface="PingFang SC"/>
              </a:rPr>
              <a:t>轻量 agent 框架 + sidecar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913632"/>
            <a:ext cx="329184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50" b="0" i="0">
                <a:solidFill>
                  <a:srgbClr val="6D7B84"/>
                </a:solidFill>
                <a:latin typeface="PingFang SC"/>
              </a:rPr>
              <a:t>用更小、更可控的系统，验证“AI 改 AI”的工程边界。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核心信息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全场希望只记住这一句话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645920"/>
            <a:ext cx="10149840" cy="201168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10512"/>
            <a:ext cx="4114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 i="0">
                <a:solidFill>
                  <a:srgbClr val="34424E"/>
                </a:solidFill>
                <a:latin typeface="Songti SC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75104"/>
            <a:ext cx="9308592" cy="1115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 i="0">
                <a:solidFill>
                  <a:srgbClr val="34424E"/>
                </a:solidFill>
                <a:latin typeface="Songti SC"/>
              </a:rPr>
              <a:t>我不是只会用 AI 写代码，我会给 AI 设计边界。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3273552"/>
            <a:ext cx="93268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把一个个人 AI 助手做成有边界、有状态、有验证、有生命周期的 agent harness 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160520"/>
            <a:ext cx="2057400" cy="40233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34424E"/>
                </a:solidFill>
                <a:latin typeface="PingFang SC"/>
              </a:rPr>
              <a:t>有边界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160520"/>
            <a:ext cx="2057400" cy="402336"/>
          </a:xfrm>
          <a:prstGeom prst="roundRect">
            <a:avLst/>
          </a:prstGeom>
          <a:solidFill>
            <a:srgbClr val="A8B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160520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34424E"/>
                </a:solidFill>
                <a:latin typeface="PingFang SC"/>
              </a:rPr>
              <a:t>有状态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160520"/>
            <a:ext cx="2057400" cy="402336"/>
          </a:xfrm>
          <a:prstGeom prst="roundRect">
            <a:avLst/>
          </a:prstGeom>
          <a:solidFill>
            <a:srgbClr val="E8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160520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34424E"/>
                </a:solidFill>
                <a:latin typeface="PingFang SC"/>
              </a:rPr>
              <a:t>有验证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4160520"/>
            <a:ext cx="2057400" cy="402336"/>
          </a:xfrm>
          <a:prstGeom prst="roundRect">
            <a:avLst/>
          </a:prstGeom>
          <a:solidFill>
            <a:srgbClr val="D9C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160520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34424E"/>
                </a:solidFill>
                <a:latin typeface="PingFang SC"/>
              </a:rPr>
              <a:t>有生命周期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56048"/>
            <a:ext cx="9784080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20" b="0" i="0">
                <a:solidFill>
                  <a:srgbClr val="34424E"/>
                </a:solidFill>
                <a:latin typeface="PingFang SC"/>
              </a:rPr>
              <a:t>重点不是“AI 会不会写代码”，而是“我能不能把它放进一个可靠的工程回路里”。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一、开场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OpenClaw 的爆火与“龙虾悖论”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664208"/>
            <a:ext cx="4892040" cy="228600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2224"/>
            <a:ext cx="4599431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从现象出发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21408"/>
            <a:ext cx="4672583" cy="17556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>
                <a:solidFill>
                  <a:srgbClr val="34424E"/>
                </a:solidFill>
                <a:latin typeface="PingFang SC"/>
              </a:rPr>
              <a:t>• 现象级开源 Agent 产品，能接管键鼠、整理文件、填表、起草邮件。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>
                <a:solidFill>
                  <a:srgbClr val="34424E"/>
                </a:solidFill>
                <a:latin typeface="PingFang SC"/>
              </a:rPr>
              <a:t>• 它让大众第一次直观看到“Agent 真能动手干活”。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>
                <a:solidFill>
                  <a:srgbClr val="34424E"/>
                </a:solidFill>
                <a:latin typeface="PingFang SC"/>
              </a:rPr>
              <a:t>• 但能力越强，权限越大，攻击面也越大。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133087"/>
            <a:ext cx="4892040" cy="1600200"/>
          </a:xfrm>
          <a:prstGeom prst="roundRect">
            <a:avLst/>
          </a:prstGeom>
          <a:solidFill>
            <a:srgbClr val="E8D9C1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261103"/>
            <a:ext cx="4599431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龙虾悖论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590288"/>
            <a:ext cx="4672583" cy="10698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4424E"/>
                </a:solidFill>
                <a:latin typeface="PingFang SC"/>
              </a:rPr>
              <a:t>• 你想让它做的事越多，给它的权限就越大；权限越大，安全风险就越高。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4424E"/>
                </a:solidFill>
                <a:latin typeface="PingFang SC"/>
              </a:rPr>
              <a:t>• 这不是 OpenClaw 独有问题，Cursor、Claude Code、Codex 都会遇到。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45920"/>
            <a:ext cx="5440680" cy="4133087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DA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1072" y="1847088"/>
            <a:ext cx="1097280" cy="292608"/>
          </a:xfrm>
          <a:prstGeom prst="roundRect">
            <a:avLst/>
          </a:prstGeom>
          <a:solidFill>
            <a:srgbClr val="DDA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847088"/>
            <a:ext cx="10972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DFC"/>
                </a:solidFill>
                <a:latin typeface="PingFang SC"/>
              </a:rPr>
              <a:t>待补截图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67712"/>
            <a:ext cx="43891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34424E"/>
                </a:solidFill>
                <a:latin typeface="PingFang SC"/>
              </a:rPr>
              <a:t>OpenClaw 新闻 / GitHub 热度视觉 hook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06624"/>
            <a:ext cx="448056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20" b="0" i="0">
                <a:solidFill>
                  <a:srgbClr val="34424E"/>
                </a:solidFill>
                <a:latin typeface="PingFang SC"/>
              </a:rPr>
              <a:t>建议你后续替换成一张“热度 + 风险”同时成立的截图：
1. GitHub repo 首页或趋势页
2. 或媒体报道封面 + 星标数
3. 画面最好能一眼看出“很火”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4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6D7B84"/>
                </a:solidFill>
                <a:latin typeface="PingFang SC"/>
              </a:rPr>
              <a:t>这里故意留空，不拿模糊截图硬顶。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OpenClaw Hook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二、范式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Harness Engineering：三个来源，一个共识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499616"/>
            <a:ext cx="8595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50" b="0" i="0">
                <a:solidFill>
                  <a:srgbClr val="6D7B84"/>
                </a:solidFill>
                <a:latin typeface="PingFang SC"/>
              </a:rPr>
              <a:t>不是讲概念，而是说明这套工程方法已经有共识、有案例、有抽象。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920240"/>
            <a:ext cx="3621024" cy="3291840"/>
          </a:xfrm>
          <a:prstGeom prst="roundRect">
            <a:avLst/>
          </a:prstGeom>
          <a:solidFill>
            <a:srgbClr val="E8D9C1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33284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OpenAI 的启发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77440"/>
            <a:ext cx="3401568" cy="2761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34424E"/>
                </a:solidFill>
                <a:latin typeface="PingFang SC"/>
              </a:rPr>
              <a:t>• Humans steer. Agents execute.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34424E"/>
                </a:solidFill>
                <a:latin typeface="PingFang SC"/>
              </a:rPr>
              <a:t>• 工程师不只写代码，还要设计环境、表达意图、搭反馈回路。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34424E"/>
                </a:solidFill>
                <a:latin typeface="PingFang SC"/>
              </a:rPr>
              <a:t>• 规则最好落成仓库里的版本化文件。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8576" y="1920240"/>
            <a:ext cx="3621024" cy="329184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48256"/>
            <a:ext cx="33284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Anthropic 的启发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2377440"/>
            <a:ext cx="3401568" cy="2761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34424E"/>
                </a:solidFill>
                <a:latin typeface="PingFang SC"/>
              </a:rPr>
              <a:t>• 长时程 Agent 需要 initializer、feature list、progress file、init.sh、E2E 验证。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34424E"/>
                </a:solidFill>
                <a:latin typeface="PingFang SC"/>
              </a:rPr>
              <a:t>• 没有 harness，Agent 往往不能持续可靠地工作。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7" y="1920240"/>
            <a:ext cx="3621024" cy="329184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048256"/>
            <a:ext cx="33284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Learn Harness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5" y="2377440"/>
            <a:ext cx="3401568" cy="2761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34424E"/>
                </a:solidFill>
                <a:latin typeface="PingFang SC"/>
              </a:rPr>
              <a:t>• 把做法收束成五子系统：Instructions / State / Verification / Scope / Lifecycle。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34424E"/>
                </a:solidFill>
                <a:latin typeface="PingFang SC"/>
              </a:rPr>
              <a:t>• Harness 不让模型更聪明，它让输出更可靠。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623560"/>
            <a:ext cx="101498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20" b="1" i="0">
                <a:solidFill>
                  <a:srgbClr val="34424E"/>
                </a:solidFill>
                <a:latin typeface="PingFang SC"/>
              </a:rPr>
              <a:t>共识：真正的差距，不是模型 IQ，而是有没有一套把它管住、续上、验对的 harness。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Three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二、范式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Harness 的五个子系统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377440"/>
            <a:ext cx="4937760" cy="141732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2542032"/>
            <a:ext cx="4114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 i="0">
                <a:solidFill>
                  <a:srgbClr val="34424E"/>
                </a:solidFill>
                <a:latin typeface="Songti SC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706624"/>
            <a:ext cx="4096512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 i="0">
                <a:solidFill>
                  <a:srgbClr val="34424E"/>
                </a:solidFill>
                <a:latin typeface="Songti SC"/>
              </a:rPr>
              <a:t>模型决定写什么代码。Harness 治理何时、何地、怎么写。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9664" y="3410712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这页对应的是方法抽象，不是空口定义。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645920"/>
            <a:ext cx="2468880" cy="1188720"/>
          </a:xfrm>
          <a:prstGeom prst="roundRect">
            <a:avLst/>
          </a:prstGeom>
          <a:solidFill>
            <a:srgbClr val="E8D9C1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773936"/>
            <a:ext cx="2176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103120"/>
            <a:ext cx="2249424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20">
                <a:solidFill>
                  <a:srgbClr val="34424E"/>
                </a:solidFill>
                <a:latin typeface="PingFang SC"/>
              </a:rPr>
              <a:t>• 告诉 AI 做什么、不要做什么。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1645920"/>
            <a:ext cx="2240280" cy="1188720"/>
          </a:xfrm>
          <a:prstGeom prst="roundRect">
            <a:avLst/>
          </a:prstGeom>
          <a:solidFill>
            <a:srgbClr val="A8BEA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1773936"/>
            <a:ext cx="19476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59" y="2103120"/>
            <a:ext cx="2020824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20">
                <a:solidFill>
                  <a:srgbClr val="34424E"/>
                </a:solidFill>
                <a:latin typeface="PingFang SC"/>
              </a:rPr>
              <a:t>• 记住做到哪了、约束是什么、上下文如何回流。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069080"/>
            <a:ext cx="2468880" cy="1188720"/>
          </a:xfrm>
          <a:prstGeom prst="roundRect">
            <a:avLst/>
          </a:prstGeom>
          <a:solidFill>
            <a:srgbClr val="E8C6B8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197096"/>
            <a:ext cx="2176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26280"/>
            <a:ext cx="2249424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20">
                <a:solidFill>
                  <a:srgbClr val="34424E"/>
                </a:solidFill>
                <a:latin typeface="PingFang SC"/>
              </a:rPr>
              <a:t>• 不是它说完成了，而是系统能验证对不对。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4069080"/>
            <a:ext cx="2240280" cy="1188720"/>
          </a:xfrm>
          <a:prstGeom prst="roundRect">
            <a:avLst/>
          </a:prstGeom>
          <a:solidFill>
            <a:srgbClr val="D9C38E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4197096"/>
            <a:ext cx="19476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4526280"/>
            <a:ext cx="2020824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20">
                <a:solidFill>
                  <a:srgbClr val="34424E"/>
                </a:solidFill>
                <a:latin typeface="PingFang SC"/>
              </a:rPr>
              <a:t>• 让 AI 一次只在允许的边界里工作。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754880"/>
            <a:ext cx="4160520" cy="1024128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9664" y="4882896"/>
            <a:ext cx="3867911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8" y="5212080"/>
            <a:ext cx="3941063" cy="49377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20">
                <a:solidFill>
                  <a:srgbClr val="34424E"/>
                </a:solidFill>
                <a:latin typeface="PingFang SC"/>
              </a:rPr>
              <a:t>• 初始化、续跑、清理、重启、重建。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Five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二、落地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Ava 把五子系统真正落进了仓库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572768"/>
            <a:ext cx="7955279" cy="713232"/>
          </a:xfrm>
          <a:prstGeom prst="roundRect">
            <a:avLst/>
          </a:prstGeom>
          <a:solidFill>
            <a:srgbClr val="E8D9C1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34424E"/>
                </a:solidFill>
                <a:latin typeface="PingFang SC"/>
              </a:rPr>
              <a:t>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82495"/>
            <a:ext cx="6217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30" b="0" i="0">
                <a:solidFill>
                  <a:srgbClr val="34424E"/>
                </a:solidFill>
                <a:latin typeface="PingFang SC"/>
              </a:rPr>
              <a:t>AGENTS.md / CLAUDE.md / ava/templates/TOOLS.md / .specanchor/global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414016"/>
            <a:ext cx="7955279" cy="713232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34424E"/>
                </a:solidFill>
                <a:latin typeface="PingFang SC"/>
              </a:rPr>
              <a:t>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523744"/>
            <a:ext cx="6217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30" b="0" i="0">
                <a:solidFill>
                  <a:srgbClr val="34424E"/>
                </a:solidFill>
                <a:latin typeface="PingFang SC"/>
              </a:rPr>
              <a:t>.specanchor 三级 Spec / ava/agent/bg_tasks.py / session 持久化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3255264"/>
            <a:ext cx="7955279" cy="713232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83280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34424E"/>
                </a:solidFill>
                <a:latin typeface="PingFang SC"/>
              </a:rPr>
              <a:t>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364992"/>
            <a:ext cx="6217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30" b="0" i="0">
                <a:solidFill>
                  <a:srgbClr val="34424E"/>
                </a:solidFill>
                <a:latin typeface="PingFang SC"/>
              </a:rPr>
              <a:t>tests/guardrails / .githooks/pre-commit / ava/console/ui_build.py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096512"/>
            <a:ext cx="7955279" cy="713232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24528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34424E"/>
                </a:solidFill>
                <a:latin typeface="PingFang SC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206240"/>
            <a:ext cx="6217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30" b="0" i="0">
                <a:solidFill>
                  <a:srgbClr val="34424E"/>
                </a:solidFill>
                <a:latin typeface="PingFang SC"/>
              </a:rPr>
              <a:t>nanobot/ 禁改规则 / patch_map / strict schema gate / Task Spec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937760"/>
            <a:ext cx="7955279" cy="713232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065776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34424E"/>
                </a:solidFill>
                <a:latin typeface="PingFang SC"/>
              </a:rPr>
              <a:t>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5047488"/>
            <a:ext cx="6217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30" b="0" i="0">
                <a:solidFill>
                  <a:srgbClr val="34424E"/>
                </a:solidFill>
                <a:latin typeface="PingFang SC"/>
              </a:rPr>
              <a:t>python -m ava 启动 / patch apply / auto_continue / auto rebuild / supervisor-first restart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783080"/>
            <a:ext cx="2240280" cy="269748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947672"/>
            <a:ext cx="4114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 i="0">
                <a:solidFill>
                  <a:srgbClr val="34424E"/>
                </a:solidFill>
                <a:latin typeface="Songti SC"/>
              </a:rPr>
              <a:t>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112264"/>
            <a:ext cx="1399032" cy="1801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 i="0">
                <a:solidFill>
                  <a:srgbClr val="34424E"/>
                </a:solidFill>
                <a:latin typeface="Songti SC"/>
              </a:rPr>
              <a:t>这页最关键：不是“我知道 harness 是什么”，而是“我已经把它分层放到了代码里”。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4096512"/>
            <a:ext cx="1417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State + Scope 里最特别的一层，就是 SpecAnchor。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17152" y="4754880"/>
            <a:ext cx="877824" cy="274320"/>
          </a:xfrm>
          <a:prstGeom prst="roundRect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2" y="4754880"/>
            <a:ext cx="87782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DFC"/>
                </a:solidFill>
                <a:latin typeface="PingFang SC"/>
              </a:rPr>
              <a:t>重点页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5084064"/>
            <a:ext cx="201168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30" b="0" i="0">
                <a:solidFill>
                  <a:srgbClr val="6D7B84"/>
                </a:solidFill>
                <a:latin typeface="PingFang SC"/>
              </a:rPr>
              <a:t>建议这页慢一点讲，让听众先理解“概念”已经变成了“工程构件”。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Ava Mapping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二、边界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SpecAnchor 在 Harness 里的角色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10149840" cy="105156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64792"/>
            <a:ext cx="4114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 i="0">
                <a:solidFill>
                  <a:srgbClr val="34424E"/>
                </a:solidFill>
                <a:latin typeface="Songti SC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29384"/>
            <a:ext cx="9308592" cy="1554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 i="0">
                <a:solidFill>
                  <a:srgbClr val="34424E"/>
                </a:solidFill>
                <a:latin typeface="Songti SC"/>
              </a:rPr>
              <a:t>SpecAnchor = 面向 Agent 开发的 spec governance layer。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267712"/>
            <a:ext cx="93268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它解决的是 spec 如何组织、加载、同步、回流，而不是替代所有 workflow 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4937760" cy="233172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099816"/>
            <a:ext cx="46451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它负责什么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429000"/>
            <a:ext cx="4718304" cy="180136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>
                <a:solidFill>
                  <a:srgbClr val="34424E"/>
                </a:solidFill>
                <a:latin typeface="PingFang SC"/>
              </a:rPr>
              <a:t>• Global / Module / Task 分层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>
                <a:solidFill>
                  <a:srgbClr val="34424E"/>
                </a:solidFill>
                <a:latin typeface="PingFang SC"/>
              </a:rPr>
              <a:t>• 上下文按需加载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>
                <a:solidFill>
                  <a:srgbClr val="34424E"/>
                </a:solidFill>
                <a:latin typeface="PingFang SC"/>
              </a:rPr>
              <a:t>• Task 结论回流模块知识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>
                <a:solidFill>
                  <a:srgbClr val="34424E"/>
                </a:solidFill>
                <a:latin typeface="PingFang SC"/>
              </a:rPr>
              <a:t>• Spec 新鲜度与覆盖治理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971800"/>
            <a:ext cx="4937760" cy="233172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3099816"/>
            <a:ext cx="46451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它不负责什么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429000"/>
            <a:ext cx="4718304" cy="180136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>
                <a:solidFill>
                  <a:srgbClr val="34424E"/>
                </a:solidFill>
                <a:latin typeface="PingFang SC"/>
              </a:rPr>
              <a:t>• 不替你定义所有需求的写法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>
                <a:solidFill>
                  <a:srgbClr val="34424E"/>
                </a:solidFill>
                <a:latin typeface="PingFang SC"/>
              </a:rPr>
              <a:t>• 不独占 Plan Approved 这类 gate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>
                <a:solidFill>
                  <a:srgbClr val="34424E"/>
                </a:solidFill>
                <a:latin typeface="PingFang SC"/>
              </a:rPr>
              <a:t>• 不替代 OpenSpec / Spec Kit / SDD-RIPER-ONE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>
                <a:solidFill>
                  <a:srgbClr val="34424E"/>
                </a:solidFill>
                <a:latin typeface="PingFang SC"/>
              </a:rPr>
              <a:t>• 它更像 control plane，而不是万能工作流产品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Spec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三、系统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Nanobot/Ava：为什么这套系统适合做受控实验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664208"/>
            <a:ext cx="3794760" cy="24688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92224"/>
            <a:ext cx="35021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为什么是 Nanobot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3575304" cy="19385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不是因为它“更酷”，而是更轻、更可读、更容易让个人开发者真正掌控。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README 直接写着：Inspired by OpenClaw, 99% fewer lines。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它足够小，小到可以被完整理解；又足够完整，能承载真实 agent 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4343400"/>
            <a:ext cx="3794760" cy="1417320"/>
          </a:xfrm>
          <a:prstGeom prst="roundRect">
            <a:avLst/>
          </a:prstGeom>
          <a:solidFill>
            <a:srgbClr val="E8D9C1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471416"/>
            <a:ext cx="35021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Ava 的结构选择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800600"/>
            <a:ext cx="3575304" cy="8869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4424E"/>
                </a:solidFill>
                <a:latin typeface="PingFang SC"/>
              </a:rPr>
              <a:t>• 不是 fork，是 sidecar。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4424E"/>
                </a:solidFill>
                <a:latin typeface="PingFang SC"/>
              </a:rPr>
              <a:t>• 启动入口走 `python -m ava`，所有定制尽量收束在 `ava/`。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9472" y="1572768"/>
            <a:ext cx="6492240" cy="4279392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anobot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343612"/>
            <a:ext cx="6053328" cy="235365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175504" y="5358384"/>
            <a:ext cx="987552" cy="256032"/>
          </a:xfrm>
          <a:prstGeom prst="roundRect">
            <a:avLst/>
          </a:prstGeom>
          <a:solidFill>
            <a:srgbClr val="A8B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5358384"/>
            <a:ext cx="9875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34424E"/>
                </a:solidFill>
                <a:latin typeface="PingFang SC"/>
              </a:rPr>
              <a:t>现有架构图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5321808"/>
            <a:ext cx="4480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80" b="0" i="0">
                <a:solidFill>
                  <a:srgbClr val="6D7B84"/>
                </a:solidFill>
                <a:latin typeface="PingFang SC"/>
              </a:rPr>
              <a:t>如果你想把这页做得更像 keynote，建议后续换成单独的信息图版本。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System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三、体量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它不是一个 prompt 试玩，而是一个可治理的双层系统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2606040" cy="1627632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847088"/>
            <a:ext cx="2350008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34424E"/>
                </a:solidFill>
                <a:latin typeface="PingFang SC"/>
              </a:rPr>
              <a:t>22,985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2359152"/>
            <a:ext cx="2331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 i="0">
                <a:solidFill>
                  <a:srgbClr val="6D7B84"/>
                </a:solidFill>
                <a:latin typeface="PingFang SC"/>
              </a:rPr>
              <a:t>nanobot/ Python 行数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2651760"/>
            <a:ext cx="233172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80" b="0" i="0">
                <a:solidFill>
                  <a:srgbClr val="34424E"/>
                </a:solidFill>
                <a:latin typeface="PingFang SC"/>
              </a:rPr>
              <a:t>84 个 Python 文件，上游轻量框架本体。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737360"/>
            <a:ext cx="2606040" cy="1627632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5" y="1847088"/>
            <a:ext cx="2350008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34424E"/>
                </a:solidFill>
                <a:latin typeface="PingFang SC"/>
              </a:rPr>
              <a:t>14,071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359152"/>
            <a:ext cx="2331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 i="0">
                <a:solidFill>
                  <a:srgbClr val="6D7B84"/>
                </a:solidFill>
                <a:latin typeface="PingFang SC"/>
              </a:rPr>
              <a:t>ava/ Python 行数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651760"/>
            <a:ext cx="233172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80" b="0" i="0">
                <a:solidFill>
                  <a:srgbClr val="34424E"/>
                </a:solidFill>
                <a:latin typeface="PingFang SC"/>
              </a:rPr>
              <a:t>80 个 Python 文件，sidecar 扩展层。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737360"/>
            <a:ext cx="2606040" cy="1627632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1847088"/>
            <a:ext cx="2350008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34424E"/>
                </a:solidFill>
                <a:latin typeface="PingFang SC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59152"/>
            <a:ext cx="2331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 i="0">
                <a:solidFill>
                  <a:srgbClr val="6D7B84"/>
                </a:solidFill>
                <a:latin typeface="PingFang SC"/>
              </a:rPr>
              <a:t>Patch 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233172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80" b="0" i="0">
                <a:solidFill>
                  <a:srgbClr val="34424E"/>
                </a:solidFill>
                <a:latin typeface="PingFang SC"/>
              </a:rPr>
              <a:t>来自 `.specanchor/modules/module-index.md`。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737360"/>
            <a:ext cx="2057400" cy="1627632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1847088"/>
            <a:ext cx="1801368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34424E"/>
                </a:solidFill>
                <a:latin typeface="PingFang SC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359152"/>
            <a:ext cx="17830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 i="0">
                <a:solidFill>
                  <a:srgbClr val="6D7B84"/>
                </a:solidFill>
                <a:latin typeface="PingFang SC"/>
              </a:rPr>
              <a:t>自定义工具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651760"/>
            <a:ext cx="178308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80" b="0" i="0">
                <a:solidFill>
                  <a:srgbClr val="34424E"/>
                </a:solidFill>
                <a:latin typeface="PingFang SC"/>
              </a:rPr>
              <a:t>由 `tools_patch` 注入，含 codex / page_agent / gateway_control。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822191"/>
            <a:ext cx="4754880" cy="1719072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3950207"/>
            <a:ext cx="4462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这组数字想说明什么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7" y="4279392"/>
            <a:ext cx="4535424" cy="11887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这不是只靠聊天记录维持的“临时 AI 工作流”，而是有清晰目录、运行时、测试和治理面的系统。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真正的价值不是代码多，而是结构分层清楚：上游保持轻，sidecar 承担实验和治理。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822191"/>
            <a:ext cx="5349240" cy="1719072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9904" y="3950207"/>
            <a:ext cx="5056631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你可以直接引用的硬证据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4279392"/>
            <a:ext cx="5129783" cy="11887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`.specanchor/global/architecture.md`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`.specanchor/modules/module-index.md`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`.specanchor/patch_map.md`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`ava/agent/bg_tasks.py` / `ava/console/ui_build.py` / `ava/patches/loop_patch.py`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Repo 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三、闭环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带人工监督的研发半闭环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011680"/>
            <a:ext cx="1828800" cy="10972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121408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50" b="1" i="0">
                <a:solidFill>
                  <a:srgbClr val="34424E"/>
                </a:solidFill>
                <a:latin typeface="PingFang SC"/>
              </a:rPr>
              <a:t>人类下达任务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32304"/>
            <a:ext cx="1572768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20" b="0" i="0">
                <a:solidFill>
                  <a:srgbClr val="34424E"/>
                </a:solidFill>
                <a:latin typeface="PingFang SC"/>
              </a:rPr>
              <a:t>定义目标、边界、是否继续。</a:t>
            </a:r>
          </a:p>
        </p:txBody>
      </p:sp>
      <p:sp>
        <p:nvSpPr>
          <p:cNvPr id="9" name="Chevron 8"/>
          <p:cNvSpPr/>
          <p:nvPr/>
        </p:nvSpPr>
        <p:spPr>
          <a:xfrm>
            <a:off x="2761488" y="2331720"/>
            <a:ext cx="329184" cy="384048"/>
          </a:xfrm>
          <a:prstGeom prst="chevron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0360" y="2011680"/>
            <a:ext cx="1965960" cy="1097280"/>
          </a:xfrm>
          <a:prstGeom prst="roundRect">
            <a:avLst/>
          </a:prstGeom>
          <a:solidFill>
            <a:srgbClr val="E8D9C1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2121408"/>
            <a:ext cx="17099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50" b="1" i="0">
                <a:solidFill>
                  <a:srgbClr val="34424E"/>
                </a:solidFill>
                <a:latin typeface="PingFang SC"/>
              </a:rPr>
              <a:t>Coding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2432304"/>
            <a:ext cx="1709928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20" b="0" i="0">
                <a:solidFill>
                  <a:srgbClr val="34424E"/>
                </a:solidFill>
                <a:latin typeface="PingFang SC"/>
              </a:rPr>
              <a:t>Cursor / Claude Code / Codex 产出代码。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4937759" y="2331720"/>
            <a:ext cx="329184" cy="384048"/>
          </a:xfrm>
          <a:prstGeom prst="chevron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02352" y="2011680"/>
            <a:ext cx="1965960" cy="109728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2121408"/>
            <a:ext cx="17099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50" b="1" i="0">
                <a:solidFill>
                  <a:srgbClr val="34424E"/>
                </a:solidFill>
                <a:latin typeface="PingFang SC"/>
              </a:rPr>
              <a:t>后台任务层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32304"/>
            <a:ext cx="1709928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20" b="0" i="0">
                <a:solidFill>
                  <a:srgbClr val="34424E"/>
                </a:solidFill>
                <a:latin typeface="PingFang SC"/>
              </a:rPr>
              <a:t>bg_tasks 持久化 + 通知 + 恢复。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159752" y="2331720"/>
            <a:ext cx="329184" cy="384048"/>
          </a:xfrm>
          <a:prstGeom prst="chevron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3488" y="2011680"/>
            <a:ext cx="2011680" cy="10972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121408"/>
            <a:ext cx="17556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50" b="1" i="0">
                <a:solidFill>
                  <a:srgbClr val="34424E"/>
                </a:solidFill>
                <a:latin typeface="PingFang SC"/>
              </a:rPr>
              <a:t>自动续跑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432304"/>
            <a:ext cx="1755648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20" b="0" i="0">
                <a:solidFill>
                  <a:srgbClr val="34424E"/>
                </a:solidFill>
                <a:latin typeface="PingFang SC"/>
              </a:rPr>
              <a:t>auto_continue 把结果注回原会话。</a:t>
            </a:r>
          </a:p>
        </p:txBody>
      </p:sp>
      <p:sp>
        <p:nvSpPr>
          <p:cNvPr id="21" name="Chevron 20"/>
          <p:cNvSpPr/>
          <p:nvPr/>
        </p:nvSpPr>
        <p:spPr>
          <a:xfrm>
            <a:off x="9436607" y="2331720"/>
            <a:ext cx="329184" cy="384048"/>
          </a:xfrm>
          <a:prstGeom prst="chevron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82912" y="2011680"/>
            <a:ext cx="1828800" cy="1097280"/>
          </a:xfrm>
          <a:prstGeom prst="roundRect">
            <a:avLst/>
          </a:prstGeom>
          <a:solidFill>
            <a:srgbClr val="A8BEA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2121408"/>
            <a:ext cx="157276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50" b="1" i="0">
                <a:solidFill>
                  <a:srgbClr val="34424E"/>
                </a:solidFill>
                <a:latin typeface="PingFang SC"/>
              </a:rPr>
              <a:t>自动补救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432304"/>
            <a:ext cx="1572768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20" b="0" i="0">
                <a:solidFill>
                  <a:srgbClr val="34424E"/>
                </a:solidFill>
                <a:latin typeface="PingFang SC"/>
              </a:rPr>
              <a:t>auto rebuild / lifecycle status / restart。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3886200"/>
            <a:ext cx="10012680" cy="1298448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04164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34424E"/>
                </a:solidFill>
                <a:latin typeface="PingFang SC"/>
              </a:rPr>
              <a:t>为什么叫“半闭环”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70832"/>
            <a:ext cx="93268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34424E"/>
                </a:solidFill>
                <a:latin typeface="PingFang SC"/>
              </a:rPr>
              <a:t>开发 loop 和 runtime loop 已经能自己续起来，但 release / PR / deploy 仍然留给人类拍板。
所以人不是被拿掉了，而是从“亲手做所有事”变成“决定何时放行”。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Semi-Closed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四、真实问题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故事 1：改错地方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00784"/>
            <a:ext cx="3749039" cy="173736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828800"/>
            <a:ext cx="345643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症状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57984"/>
            <a:ext cx="3529583" cy="120700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AI 为了“更省事”，越过边界直接改了 `nanobot/`。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3749039" cy="182880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831335"/>
            <a:ext cx="345643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为什么会这样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160520"/>
            <a:ext cx="3529583" cy="12984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规则只写在提示词里，AI 仍会在“效率”和“规则”之间自己权衡。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它有能力违背规范，所以规范不能只存在于文档里。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700784"/>
            <a:ext cx="6355080" cy="3840480"/>
          </a:xfrm>
          <a:prstGeom prst="roundRect">
            <a:avLst/>
          </a:prstGeom>
          <a:solidFill>
            <a:srgbClr val="E8D9C1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8344" y="1828800"/>
            <a:ext cx="60624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怎么修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157984"/>
            <a:ext cx="6135624" cy="3310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10">
                <a:solidFill>
                  <a:srgbClr val="34424E"/>
                </a:solidFill>
                <a:latin typeface="PingFang SC"/>
              </a:rPr>
              <a:t>• Layer 1：加强 AGENTS / CLAUDE / tool description 的措辞。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10">
                <a:solidFill>
                  <a:srgbClr val="34424E"/>
                </a:solidFill>
                <a:latin typeface="PingFang SC"/>
              </a:rPr>
              <a:t>• Layer 2：guardrail 测试自动检查是否误改 `nanobot/`。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10">
                <a:solidFill>
                  <a:srgbClr val="34424E"/>
                </a:solidFill>
                <a:latin typeface="PingFang SC"/>
              </a:rPr>
              <a:t>• Layer 3：sidecar 架构把默认扩展路径收束到 `ava/`，让越界更容易被拦截。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5239512"/>
            <a:ext cx="3566160" cy="301752"/>
          </a:xfrm>
          <a:prstGeom prst="roundRect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5239512"/>
            <a:ext cx="356616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DFC"/>
                </a:solidFill>
                <a:latin typeface="PingFang SC"/>
              </a:rPr>
              <a:t>Harness 映射：Instructions + Verification +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Three 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四、真实问题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故事 2：改完不收尾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00784"/>
            <a:ext cx="3749039" cy="173736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828800"/>
            <a:ext cx="345643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症状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57984"/>
            <a:ext cx="3529583" cy="120700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后台任务完成了，也通知了我，但 agent 没有继续推进下一步。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3749039" cy="182880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831335"/>
            <a:ext cx="345643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为什么会这样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160520"/>
            <a:ext cx="3529583" cy="12984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完成回调只负责通知，没有把结果重新注回原会话。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等于员工汇报了结果，系统却没有安排后续动作。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700784"/>
            <a:ext cx="6355080" cy="384048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8344" y="1828800"/>
            <a:ext cx="60624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怎么修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157984"/>
            <a:ext cx="6135624" cy="3310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10">
                <a:solidFill>
                  <a:srgbClr val="34424E"/>
                </a:solidFill>
                <a:latin typeface="PingFang SC"/>
              </a:rPr>
              <a:t>• 补 `auto_continue`：任务完成后自动把结果注回原会话。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10">
                <a:solidFill>
                  <a:srgbClr val="34424E"/>
                </a:solidFill>
                <a:latin typeface="PingFang SC"/>
              </a:rPr>
              <a:t>• 加 continuation budget：每个会话最多自动续跑 5 次，避免死循环。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10">
                <a:solidFill>
                  <a:srgbClr val="34424E"/>
                </a:solidFill>
                <a:latin typeface="PingFang SC"/>
              </a:rPr>
              <a:t>• 用户发新消息时重置预算，让人仍然是最终方向控制器。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5239512"/>
            <a:ext cx="3566160" cy="301752"/>
          </a:xfrm>
          <a:prstGeom prst="roundRect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5239512"/>
            <a:ext cx="356616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DFC"/>
                </a:solidFill>
                <a:latin typeface="PingFang SC"/>
              </a:rPr>
              <a:t>Harness 映射：Lifecycle +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Three 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四、真实问题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故事 3：改完看不到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00784"/>
            <a:ext cx="3749039" cy="173736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828800"/>
            <a:ext cx="345643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症状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57984"/>
            <a:ext cx="3529583" cy="120700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前端 TypeScript 已改，AI 也说完成了，但真实页面没有变化。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3749039" cy="182880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831335"/>
            <a:ext cx="345643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为什么会这样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160520"/>
            <a:ext cx="3529583" cy="12984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AI 不一定记得还要 `npm run build`。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这正是 harness 里最危险的错觉：confidence ≠ correctness。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700784"/>
            <a:ext cx="6355080" cy="38404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8344" y="1828800"/>
            <a:ext cx="60624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怎么修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157984"/>
            <a:ext cx="6135624" cy="3310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10">
                <a:solidFill>
                  <a:srgbClr val="34424E"/>
                </a:solidFill>
                <a:latin typeface="PingFang SC"/>
              </a:rPr>
              <a:t>• 在 post-task hook 里检测 console-ui 产物是否过期。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10">
                <a:solidFill>
                  <a:srgbClr val="34424E"/>
                </a:solidFill>
                <a:latin typeface="PingFang SC"/>
              </a:rPr>
              <a:t>• 源码 mtime 大于 dist mtime 时自动 rebuild。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10">
                <a:solidFill>
                  <a:srgbClr val="34424E"/>
                </a:solidFill>
                <a:latin typeface="PingFang SC"/>
              </a:rPr>
              <a:t>• 不要依赖 AI 自己想起“还差一步”。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5239512"/>
            <a:ext cx="3566160" cy="301752"/>
          </a:xfrm>
          <a:prstGeom prst="roundRect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5239512"/>
            <a:ext cx="356616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DFC"/>
                </a:solidFill>
                <a:latin typeface="PingFang SC"/>
              </a:rPr>
              <a:t>Harness 映射：Verification（产物新鲜度检测）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Three 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四、总结图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约束不是一句提示词，而是分层设计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1417320"/>
            <a:ext cx="9966960" cy="658368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36192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34424E"/>
                </a:solidFill>
                <a:latin typeface="PingFang SC"/>
              </a:rPr>
              <a:t>Layer 4 · CI / Guardrail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545336"/>
            <a:ext cx="5394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20" b="0" i="0">
                <a:solidFill>
                  <a:srgbClr val="34424E"/>
                </a:solidFill>
                <a:latin typeface="PingFang SC"/>
              </a:rPr>
              <a:t>最终兜底：tests + guardrails + hook 检查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194560"/>
            <a:ext cx="9966960" cy="658368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13432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34424E"/>
                </a:solidFill>
                <a:latin typeface="PingFang SC"/>
              </a:rPr>
              <a:t>Layer 3 · Post-task Hooks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322576"/>
            <a:ext cx="5394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20" b="0" i="0">
                <a:solidFill>
                  <a:srgbClr val="34424E"/>
                </a:solidFill>
                <a:latin typeface="PingFang SC"/>
              </a:rPr>
              <a:t>自动补救：auto rebuild / continuation / lifecycle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971800"/>
            <a:ext cx="9966960" cy="658368"/>
          </a:xfrm>
          <a:prstGeom prst="roundRect">
            <a:avLst/>
          </a:prstGeom>
          <a:solidFill>
            <a:srgbClr val="E8D9C1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090672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34424E"/>
                </a:solidFill>
                <a:latin typeface="PingFang SC"/>
              </a:rPr>
              <a:t>Layer 2 · Tool Description + 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099816"/>
            <a:ext cx="5394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20" b="0" i="0">
                <a:solidFill>
                  <a:srgbClr val="34424E"/>
                </a:solidFill>
                <a:latin typeface="PingFang SC"/>
              </a:rPr>
              <a:t>影响 AI 决策：委托策略、模块契约、SpecAnchor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749039"/>
            <a:ext cx="9966960" cy="658368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867911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34424E"/>
                </a:solidFill>
                <a:latin typeface="PingFang SC"/>
              </a:rPr>
              <a:t>Layer 1 · AGENTS.md / CLAUDE.md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877055"/>
            <a:ext cx="5394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20" b="0" i="0">
                <a:solidFill>
                  <a:srgbClr val="34424E"/>
                </a:solidFill>
                <a:latin typeface="PingFang SC"/>
              </a:rPr>
              <a:t>最外层说明文档：告诉 AI 默认边界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983480"/>
            <a:ext cx="97840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34424E"/>
                </a:solidFill>
                <a:latin typeface="PingFang SC"/>
              </a:rPr>
              <a:t>每一层都不需要单独 100% 可靠。多层叠加 + sidecar 边界，才能把“AI 会犯错”变成“AI 犯错时成本可控”。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Layered 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五、个人优势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我不是只会踩坑，而是把坑变成了工程能力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38528"/>
            <a:ext cx="3621024" cy="324612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066544"/>
            <a:ext cx="33284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架构判断力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3401568" cy="27157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选择 sidecar 而不是 fork，把上游同步的长期成本从结构上压低。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知道什么放 patch、什么放 fork、什么该回提 upstream。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5152" y="1938528"/>
            <a:ext cx="3621024" cy="324612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6" y="2066544"/>
            <a:ext cx="33284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治理意识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95728"/>
            <a:ext cx="3401568" cy="27157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不满足于“写几句提示词”，而是把 prompt 失效处变成测试、hook、运行时控制面。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用 SpecAnchor 把经验沉淀成可加载、可追踪的团队契约。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938528"/>
            <a:ext cx="3621024" cy="3246120"/>
          </a:xfrm>
          <a:prstGeom prst="roundRect">
            <a:avLst/>
          </a:prstGeom>
          <a:solidFill>
            <a:srgbClr val="E8D9C1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2066544"/>
            <a:ext cx="33284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闭环落地能力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395728"/>
            <a:ext cx="3401568" cy="27157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不是只指出问题，而是把问题写成 continuation、auto rebuild、lifecycle control。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把“AI 改 AI”从概念推进到可运行的半闭环。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Personal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六、可复用模式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你今天就能带走的三个模式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901952"/>
            <a:ext cx="3611880" cy="31546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029968"/>
            <a:ext cx="3319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模式 1：Sidecar 扩展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3392424" cy="2624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依赖开源项目但要深度定制？优先旁路扩展，不要直接 fork。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前提是上游有足够 patch 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26864" y="1901952"/>
            <a:ext cx="3611880" cy="315468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029968"/>
            <a:ext cx="3319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模式 2：软硬护栏组合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359152"/>
            <a:ext cx="3392424" cy="2624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软护栏决定 AI 想做什么，硬护栏决定 AI 能做什么。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提示词、Spec、测试、CI、Hook 必须一起上。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49055" y="1901952"/>
            <a:ext cx="3611880" cy="3154680"/>
          </a:xfrm>
          <a:prstGeom prst="roundRect">
            <a:avLst/>
          </a:prstGeom>
          <a:solidFill>
            <a:srgbClr val="E8D9C1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2029968"/>
            <a:ext cx="3319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模式 3：Post-task 自动化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3" y="2359152"/>
            <a:ext cx="3392424" cy="2624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build、lint、deploy 这类固定后续动作，不要赌 AI 会记得。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把它变成系统级 hook。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Reusable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DFC"/>
                </a:solidFill>
                <a:latin typeface="PingFang SC"/>
              </a:rPr>
              <a:t>七、Q&amp;A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DFC"/>
                </a:solidFill>
                <a:latin typeface="PingFang SC"/>
              </a:rPr>
              <a:t>预设问题：提前把最容易被追问的点讲清楚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5257800" cy="3977639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56816"/>
            <a:ext cx="496519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常见追问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86000"/>
            <a:ext cx="5038344" cy="344728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Monkey Patch 会不会很脆弱？
会，所以每个 patch 都有 guard 和最低验证。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小项目值得上这套吗？
如果持续迭代且频繁用 AI，就值得；否则从 AGENTS.md 起步。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能不能让 AI 自己设计约束？
可以，但人仍要 review 边界情况。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4983480" cy="3977639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956816"/>
            <a:ext cx="46908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常见追问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286000"/>
            <a:ext cx="4764024" cy="344728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Token 成本会不会更高？
会涨上下文成本，但通常更少返工，净效果往往更省。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Nanobot 和 OpenClaw 的差别？
不是谁更强，而是谁更适合做可控实验。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80">
                <a:solidFill>
                  <a:srgbClr val="34424E"/>
                </a:solidFill>
                <a:latin typeface="PingFang SC"/>
              </a:rPr>
              <a:t>• SpecAnchor 和 Spec Kit / OpenSpec / Kiro？
前者偏治理，后者偏 authoring / workflow。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FFFDFC"/>
                </a:solidFill>
                <a:latin typeface="PingFang SC"/>
              </a:rPr>
              <a:t>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FFFDFC"/>
                </a:solidFill>
                <a:latin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仓库里已经有的硬证据入口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611880" cy="13258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911095"/>
            <a:ext cx="3319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架构规范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3392424" cy="7955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`.specanchor/global/architecture.md`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用来证明 sidecar / patch / fork 的设计原则。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5152" y="1783080"/>
            <a:ext cx="3611880" cy="132588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6" y="1911095"/>
            <a:ext cx="3319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模块覆盖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3392424" cy="7955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`.specanchor/modules/module-index.md`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13 个 patch 模块与功能模块的总索引。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83080"/>
            <a:ext cx="3611880" cy="13258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1911095"/>
            <a:ext cx="3319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热区治理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240280"/>
            <a:ext cx="3392424" cy="7955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`.specanchor/patch_map.md`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说明哪些 patch 是 merge hot zone。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37560"/>
            <a:ext cx="3611880" cy="132588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465576"/>
            <a:ext cx="3319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后台状态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794760"/>
            <a:ext cx="3392424" cy="7955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`ava/agent/bg_tasks.py`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支撑 continuation、恢复与通知。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45152" y="3337560"/>
            <a:ext cx="3611880" cy="13258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1456" y="3465576"/>
            <a:ext cx="3319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前端新鲜度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794760"/>
            <a:ext cx="3392424" cy="7955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`ava/console/ui_build.py`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支撑 auto rebuild 检测。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7344" y="3337560"/>
            <a:ext cx="3611880" cy="1325880"/>
          </a:xfrm>
          <a:prstGeom prst="roundRect">
            <a:avLst/>
          </a:prstGeom>
          <a:solidFill>
            <a:srgbClr val="F4ECE3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3465576"/>
            <a:ext cx="33192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关键提交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3794760"/>
            <a:ext cx="3392424" cy="7955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`bd4be432` / `194ccd43` / `1f51f458`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70">
                <a:solidFill>
                  <a:srgbClr val="34424E"/>
                </a:solidFill>
                <a:latin typeface="PingFang SC"/>
              </a:rPr>
              <a:t>• 可支撑故事 2、3 与 lifecycle 的演讲证据。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endi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待补素材页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[待补] OpenClaw 视觉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26464"/>
            <a:ext cx="1133856" cy="292608"/>
          </a:xfrm>
          <a:prstGeom prst="roundRect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26464"/>
            <a:ext cx="113385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DFC"/>
                </a:solidFill>
                <a:latin typeface="PingFang SC"/>
              </a:rPr>
              <a:t>截图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3154680" cy="15544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11095"/>
            <a:ext cx="28620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这页的用途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40280"/>
            <a:ext cx="2935224" cy="1024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用于替换第 3 页右侧占位区，强化“很火，但也很危险”的第一印象。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83080"/>
            <a:ext cx="6967728" cy="342900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911095"/>
            <a:ext cx="6675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请你后续补什么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240280"/>
            <a:ext cx="6748272" cy="28986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一张 16:9 横向截图，优先包含 repo 星标数或媒体标题。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如果能同屏出现产品界面或相关新闻摘要更好。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避免纯文字长截图，优先“热度”一眼可见。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60720"/>
            <a:ext cx="102412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80" b="0" i="0">
                <a:solidFill>
                  <a:srgbClr val="6D7B84"/>
                </a:solidFill>
                <a:latin typeface="PingFang SC"/>
              </a:rPr>
              <a:t>更细的截图要求见 `docs/tech-sharing-outline-assets.md`。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Appendix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endi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待补素材页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[待补] Ava 架构全景信息图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26464"/>
            <a:ext cx="1133856" cy="292608"/>
          </a:xfrm>
          <a:prstGeom prst="roundRect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26464"/>
            <a:ext cx="113385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DFC"/>
                </a:solidFill>
                <a:latin typeface="PingFang SC"/>
              </a:rPr>
              <a:t>信息图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3154680" cy="15544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11095"/>
            <a:ext cx="28620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这页的用途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40280"/>
            <a:ext cx="2935224" cy="1024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建议替换第 8 页的现有架构图，让系统全貌更适合演讲呈现。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83080"/>
            <a:ext cx="6967728" cy="342900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911095"/>
            <a:ext cx="6675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请你后续补什么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240280"/>
            <a:ext cx="6748272" cy="28986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左侧是 Nanobot 核心，右侧是 Ava sidecar，底部是 console / tools / storage / runtime。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请保留“不是 fork，是 sidecar”这个信息焦点。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推荐用明亮柔和、有人文温度的插图式信息图。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60720"/>
            <a:ext cx="102412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80" b="0" i="0">
                <a:solidFill>
                  <a:srgbClr val="6D7B84"/>
                </a:solidFill>
                <a:latin typeface="PingFang SC"/>
              </a:rPr>
              <a:t>Nano Banana 提示词已写入 `docs/tech-sharing-outline-assets.md`。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Appendix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endi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待补素材页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[待补] 1-2 分钟 Demo 录屏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26464"/>
            <a:ext cx="1133856" cy="292608"/>
          </a:xfrm>
          <a:prstGeom prst="roundRect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26464"/>
            <a:ext cx="113385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DFC"/>
                </a:solidFill>
                <a:latin typeface="PingFang SC"/>
              </a:rPr>
              <a:t>视频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3154680" cy="15544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11095"/>
            <a:ext cx="28620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这页的用途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40280"/>
            <a:ext cx="2935224" cy="1024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这页用于在演讲时播放或截图拆帧，展示“带人工监督的 AI 改 AI”真实链路。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83080"/>
            <a:ext cx="6967728" cy="342900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911095"/>
            <a:ext cx="6675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请你后续补什么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240280"/>
            <a:ext cx="6748272" cy="28986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建议一镜到底：任务下发 → 后台执行 → 通知 → auto continue → 页面更新。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画面至少同时出现一个沟通界面和一个开发/控制界面。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时长控制在 60-120 秒，字幕可后补。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60720"/>
            <a:ext cx="102412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80" b="0" i="0">
                <a:solidFill>
                  <a:srgbClr val="6D7B84"/>
                </a:solidFill>
                <a:latin typeface="PingFang SC"/>
              </a:rPr>
              <a:t>建议镜头脚本见 `docs/tech-sharing-outline-assets.md`。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Appendix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endi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待补素材页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[待补] 三个故事的证据截图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26464"/>
            <a:ext cx="1133856" cy="292608"/>
          </a:xfrm>
          <a:prstGeom prst="roundRect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26464"/>
            <a:ext cx="113385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DFC"/>
                </a:solidFill>
                <a:latin typeface="PingFang SC"/>
              </a:rPr>
              <a:t>截图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3154680" cy="15544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11095"/>
            <a:ext cx="28620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这页的用途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40280"/>
            <a:ext cx="2935224" cy="1024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用于补强第 11-13 页，让三个故事从“说得通”变成“看得见”。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83080"/>
            <a:ext cx="6967728" cy="342900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911095"/>
            <a:ext cx="6675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请你后续补什么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240280"/>
            <a:ext cx="6748272" cy="28986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故事 1：误改 `nanobot/` 的 diff 或 guardrail 拦截截图。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故事 2：任务完成通知 + auto continue 继续执行的连续截图。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故事 3：前端未生效 / 重建后生效的对比截图。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60720"/>
            <a:ext cx="102412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80" b="0" i="0">
                <a:solidFill>
                  <a:srgbClr val="6D7B84"/>
                </a:solidFill>
                <a:latin typeface="PingFang SC"/>
              </a:rPr>
              <a:t>建议截图组合方式见 `docs/tech-sharing-outline-assets.md`。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Appendix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endi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457200"/>
            <a:ext cx="1691640" cy="310896"/>
          </a:xfrm>
          <a:prstGeom prst="roundRect">
            <a:avLst/>
          </a:prstGeom>
          <a:solidFill>
            <a:srgbClr val="E8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4424E"/>
                </a:solidFill>
                <a:latin typeface="PingFang SC"/>
              </a:rPr>
              <a:t>待补素材页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34424E"/>
                </a:solidFill>
                <a:latin typeface="PingFang SC"/>
              </a:rPr>
              <a:t>[待补] Commit / Diff 硬证据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26464"/>
            <a:ext cx="1133856" cy="292608"/>
          </a:xfrm>
          <a:prstGeom prst="roundRect">
            <a:avLst/>
          </a:prstGeom>
          <a:solidFill>
            <a:srgbClr val="B9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26464"/>
            <a:ext cx="113385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DFC"/>
                </a:solidFill>
                <a:latin typeface="PingFang SC"/>
              </a:rPr>
              <a:t>代码截图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3154680" cy="155448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11095"/>
            <a:ext cx="28620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这页的用途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40280"/>
            <a:ext cx="2935224" cy="10241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20">
                <a:solidFill>
                  <a:srgbClr val="34424E"/>
                </a:solidFill>
                <a:latin typeface="PingFang SC"/>
              </a:rPr>
              <a:t>• 用于第 15 页之前或附录中插入真实研发证据，增强说服力。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83080"/>
            <a:ext cx="6967728" cy="3429000"/>
          </a:xfrm>
          <a:prstGeom prst="roundRect">
            <a:avLst/>
          </a:prstGeom>
          <a:solidFill>
            <a:srgbClr val="FFFDFC"/>
          </a:solidFill>
          <a:ln w="15875">
            <a:solidFill>
              <a:srgbClr val="D7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911095"/>
            <a:ext cx="6675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34424E"/>
                </a:solidFill>
                <a:latin typeface="PingFang SC"/>
              </a:rPr>
              <a:t>请你后续补什么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240280"/>
            <a:ext cx="6748272" cy="28986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优先准备 `bd4be432`、`194ccd43`、`1f51f458` 这类能对应故事或闭环的提交。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再补一组 `loop_patch.py` 的关键 diff，说明不是纸上谈兵。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60">
                <a:solidFill>
                  <a:srgbClr val="34424E"/>
                </a:solidFill>
                <a:latin typeface="PingFang SC"/>
              </a:rPr>
              <a:t>• 若要讲“AI 误改上游”，请从本地历史中挑一个代表性案例截图。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60720"/>
            <a:ext cx="102412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80" b="0" i="0">
                <a:solidFill>
                  <a:srgbClr val="6D7B84"/>
                </a:solidFill>
                <a:latin typeface="PingFang SC"/>
              </a:rPr>
              <a:t>如何挑 commit、如何截 diff，见 `docs/tech-sharing-outline-assets.md`。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3474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6D7B84"/>
                </a:solidFill>
                <a:latin typeface="PingFang SC"/>
              </a:rPr>
              <a:t>Appendix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45936"/>
            <a:ext cx="4206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 i="0">
                <a:solidFill>
                  <a:srgbClr val="6D7B84"/>
                </a:solidFill>
                <a:latin typeface="PingFang SC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怎么让 AI 帮你改代码，但不把项目改坏</dc:title>
  <dc:subject>Nanobot/Ava 技术分享</dc:subject>
  <dc:creator>OpenAI Codex</dc:creator>
  <cp:keywords>Nanobot,Ava,Harness Engineering,SpecAnchor,AI Coding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